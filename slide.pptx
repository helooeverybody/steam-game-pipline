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8" r:id="rId4"/>
  </p:sldMasterIdLst>
  <p:notesMasterIdLst>
    <p:notesMasterId r:id="rId18"/>
  </p:notesMasterIdLst>
  <p:handoutMasterIdLst>
    <p:handoutMasterId r:id="rId19"/>
  </p:handoutMasterIdLst>
  <p:sldIdLst>
    <p:sldId id="257" r:id="rId5"/>
    <p:sldId id="265" r:id="rId6"/>
    <p:sldId id="277" r:id="rId7"/>
    <p:sldId id="266" r:id="rId8"/>
    <p:sldId id="284" r:id="rId9"/>
    <p:sldId id="278" r:id="rId10"/>
    <p:sldId id="285" r:id="rId11"/>
    <p:sldId id="282" r:id="rId12"/>
    <p:sldId id="280" r:id="rId13"/>
    <p:sldId id="281" r:id="rId14"/>
    <p:sldId id="288" r:id="rId15"/>
    <p:sldId id="287" r:id="rId16"/>
    <p:sldId id="269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14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150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5EAC724-B034-4F10-A9E8-56851A79B8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20872BB-3892-4F66-9266-36ADB83FAD5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8B45424-6BAC-416C-8F6C-5F9DE854A36B}" type="datetimeFigureOut">
              <a:rPr lang="en-US" smtClean="0"/>
              <a:t>1/11/2026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CA138F-B9BA-4997-B3C2-DA8B17B6D5B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E86FBF-0AC4-4904-8ED7-0BD6E9AC71D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34D737-83BD-4FDE-8CF3-8BC01E7FC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07374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B733702-C25A-40B9-9167-54BAA79B29B0}" type="datetimeFigureOut">
              <a:rPr lang="en-US" smtClean="0"/>
              <a:t>1/11/2026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2FC7A4-3D1B-482D-8C9D-7642A2CE30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92653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264949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30FC03-A82E-4B34-AE4B-8AC40A0CD5B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1/11/2026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49FB7E-C73B-452D-861A-6C73FF59E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5733BD-32DD-483E-A597-B70529CBDA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itle 6">
            <a:extLst>
              <a:ext uri="{FF2B5EF4-FFF2-40B4-BE49-F238E27FC236}">
                <a16:creationId xmlns:a16="http://schemas.microsoft.com/office/drawing/2014/main" id="{44DCE4FD-DEE1-4DE9-A40E-616ACEB2FE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1: ………………………………………</a:t>
            </a:r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90DFCEB3-810D-48E5-B7BA-1A6C924A64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35077" y="841247"/>
            <a:ext cx="8674100" cy="5303393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675470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007929A3-17ED-41F3-AD36-819BC9DFBCB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1/11/2026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4973EE95-672F-4E5A-A918-2F51DB2C3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2B17F6F6-0CA3-4D52-AA3D-7CF8ADE79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itle 6">
            <a:extLst>
              <a:ext uri="{FF2B5EF4-FFF2-40B4-BE49-F238E27FC236}">
                <a16:creationId xmlns:a16="http://schemas.microsoft.com/office/drawing/2014/main" id="{943CD72D-5295-43E4-B175-0EA61084AD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3: ………………………………………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0C9A3A79-B187-4A33-8EBB-92ECD8BA3C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34950" y="963168"/>
            <a:ext cx="8674100" cy="5132832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179857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wo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1D2FCDAA-D1AE-440A-ADEA-98F1ACB064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1/11/2026</a:t>
            </a:fld>
            <a:endParaRPr lang="en-US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C4186984-389F-440C-BD79-8D1349BD85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5C66723D-7FE6-462E-9733-48764D89B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03483232-D29A-4255-9149-0177F87858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8828" y="1423289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A1BAF8AD-67D8-46AD-A292-05589E8273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2000" y="1423289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9" name="Title 6">
            <a:extLst>
              <a:ext uri="{FF2B5EF4-FFF2-40B4-BE49-F238E27FC236}">
                <a16:creationId xmlns:a16="http://schemas.microsoft.com/office/drawing/2014/main" id="{EFD61387-9809-4E21-B8EA-93815E5E8F6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4: ………………………………………</a:t>
            </a:r>
          </a:p>
        </p:txBody>
      </p:sp>
    </p:spTree>
    <p:extLst>
      <p:ext uri="{BB962C8B-B14F-4D97-AF65-F5344CB8AC3E}">
        <p14:creationId xmlns:p14="http://schemas.microsoft.com/office/powerpoint/2010/main" val="13534025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an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6">
            <a:extLst>
              <a:ext uri="{FF2B5EF4-FFF2-40B4-BE49-F238E27FC236}">
                <a16:creationId xmlns:a16="http://schemas.microsoft.com/office/drawing/2014/main" id="{74BADCE4-794A-4B69-9AB7-3D794A1F9A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6: ………………………………………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38375D86-D290-4003-A314-C916116C42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5884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FB62406B-26DB-4A01-B048-1F2C7540F8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39056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A52862E5-D8E1-49BF-8D1B-BF0ED6579E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1/11/2026</a:t>
            </a:fld>
            <a:endParaRPr lang="en-US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591AAF74-01FB-49A8-9375-959140F1D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BBF4BC2F-980C-499D-A4B9-E7CD3D447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85406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007929A3-17ED-41F3-AD36-819BC9DFBCB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1/11/2026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4973EE95-672F-4E5A-A918-2F51DB2C3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2B17F6F6-0CA3-4D52-AA3D-7CF8ADE79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itle 6">
            <a:extLst>
              <a:ext uri="{FF2B5EF4-FFF2-40B4-BE49-F238E27FC236}">
                <a16:creationId xmlns:a16="http://schemas.microsoft.com/office/drawing/2014/main" id="{943CD72D-5295-43E4-B175-0EA61084AD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7: ………………………………………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0C9A3A79-B187-4A33-8EBB-92ECD8BA3C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34950" y="1227550"/>
            <a:ext cx="8674100" cy="4868449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342310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Blan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6">
            <a:extLst>
              <a:ext uri="{FF2B5EF4-FFF2-40B4-BE49-F238E27FC236}">
                <a16:creationId xmlns:a16="http://schemas.microsoft.com/office/drawing/2014/main" id="{74BADCE4-794A-4B69-9AB7-3D794A1F9A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8: ………………………………………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38375D86-D290-4003-A314-C916116C42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5884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FB62406B-26DB-4A01-B048-1F2C7540F8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39056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A52862E5-D8E1-49BF-8D1B-BF0ED6579E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1/11/2026</a:t>
            </a:fld>
            <a:endParaRPr lang="en-US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591AAF74-01FB-49A8-9375-959140F1D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BBF4BC2F-980C-499D-A4B9-E7CD3D447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90188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007929A3-17ED-41F3-AD36-819BC9DFBCB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1/11/2026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4973EE95-672F-4E5A-A918-2F51DB2C3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2B17F6F6-0CA3-4D52-AA3D-7CF8ADE79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itle 6">
            <a:extLst>
              <a:ext uri="{FF2B5EF4-FFF2-40B4-BE49-F238E27FC236}">
                <a16:creationId xmlns:a16="http://schemas.microsoft.com/office/drawing/2014/main" id="{943CD72D-5295-43E4-B175-0EA61084AD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9: ………………………………………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0C9A3A79-B187-4A33-8EBB-92ECD8BA3C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34950" y="1164920"/>
            <a:ext cx="8674100" cy="4931079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664829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ntent with Cap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76EAE966-F590-4BAF-A55B-75735FCC66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chemeClr val="bg1">
                    <a:lumMod val="95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1/11/2026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C330CA1C-4366-43E8-9DC8-B360FC115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2DB13F6-9193-4FE2-AE85-5B96248CC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70462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198952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5" r:id="rId3"/>
    <p:sldLayoutId id="2147483683" r:id="rId4"/>
    <p:sldLayoutId id="2147483679" r:id="rId5"/>
    <p:sldLayoutId id="2147483680" r:id="rId6"/>
    <p:sldLayoutId id="2147483681" r:id="rId7"/>
    <p:sldLayoutId id="2147483682" r:id="rId8"/>
    <p:sldLayoutId id="2147483678" r:id="rId9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3">
            <a:extLst>
              <a:ext uri="{FF2B5EF4-FFF2-40B4-BE49-F238E27FC236}">
                <a16:creationId xmlns:a16="http://schemas.microsoft.com/office/drawing/2014/main" id="{67FB4AA9-E9AF-4CE0-A0DC-99D7952890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3012" y="398419"/>
            <a:ext cx="2037225" cy="611594"/>
          </a:xfrm>
          <a:prstGeom prst="rect">
            <a:avLst/>
          </a:prstGeom>
        </p:spPr>
      </p:pic>
      <p:sp>
        <p:nvSpPr>
          <p:cNvPr id="11" name="Title 6">
            <a:extLst>
              <a:ext uri="{FF2B5EF4-FFF2-40B4-BE49-F238E27FC236}">
                <a16:creationId xmlns:a16="http://schemas.microsoft.com/office/drawing/2014/main" id="{FF8BDF70-CFA6-4031-86B7-31F910D8115D}"/>
              </a:ext>
            </a:extLst>
          </p:cNvPr>
          <p:cNvSpPr txBox="1">
            <a:spLocks/>
          </p:cNvSpPr>
          <p:nvPr/>
        </p:nvSpPr>
        <p:spPr>
          <a:xfrm>
            <a:off x="413012" y="2421636"/>
            <a:ext cx="7342482" cy="84879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1" kern="1200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vi-VN" dirty="0"/>
              <a:t>Steam</a:t>
            </a:r>
            <a:r>
              <a:rPr lang="en-US" dirty="0"/>
              <a:t> Game</a:t>
            </a:r>
            <a:r>
              <a:rPr lang="vi-VN" dirty="0"/>
              <a:t> Analysis</a:t>
            </a:r>
            <a:endParaRPr lang="en-US" dirty="0"/>
          </a:p>
        </p:txBody>
      </p:sp>
      <p:sp>
        <p:nvSpPr>
          <p:cNvPr id="12" name="Title 6">
            <a:extLst>
              <a:ext uri="{FF2B5EF4-FFF2-40B4-BE49-F238E27FC236}">
                <a16:creationId xmlns:a16="http://schemas.microsoft.com/office/drawing/2014/main" id="{A4ACF486-B7D8-4A5A-B633-83527A2F99E2}"/>
              </a:ext>
            </a:extLst>
          </p:cNvPr>
          <p:cNvSpPr txBox="1">
            <a:spLocks/>
          </p:cNvSpPr>
          <p:nvPr/>
        </p:nvSpPr>
        <p:spPr>
          <a:xfrm>
            <a:off x="413012" y="3567622"/>
            <a:ext cx="7342482" cy="255043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1" kern="1200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vi-VN" sz="2800" b="0" dirty="0"/>
              <a:t>G</a:t>
            </a:r>
            <a:r>
              <a:rPr lang="en-US" sz="2800" b="0" dirty="0" err="1"/>
              <a:t>roup</a:t>
            </a:r>
            <a:r>
              <a:rPr lang="en-US" sz="2800" b="0" dirty="0"/>
              <a:t> 17</a:t>
            </a:r>
          </a:p>
          <a:p>
            <a:r>
              <a:rPr lang="en-US" sz="1800" b="0" dirty="0"/>
              <a:t>Ngo Duy Dat -20225480</a:t>
            </a:r>
          </a:p>
          <a:p>
            <a:r>
              <a:rPr lang="en-US" sz="1800" b="0" dirty="0"/>
              <a:t>Doi Si Thang – 20225528</a:t>
            </a:r>
          </a:p>
          <a:p>
            <a:r>
              <a:rPr lang="en-US" sz="1800" b="0" dirty="0"/>
              <a:t>Nguyen Nhat Minh – 20225510</a:t>
            </a:r>
          </a:p>
          <a:p>
            <a:r>
              <a:rPr lang="en-US" sz="1800" b="0" dirty="0"/>
              <a:t>Nguyen Hoang Son Tung – 20225536</a:t>
            </a:r>
          </a:p>
          <a:p>
            <a:r>
              <a:rPr lang="en-US" sz="1800" b="0" dirty="0"/>
              <a:t>Vu Tuan Truong - 20225535</a:t>
            </a:r>
          </a:p>
          <a:p>
            <a:endParaRPr lang="en-US" sz="2800" b="0" dirty="0"/>
          </a:p>
          <a:p>
            <a:r>
              <a:rPr lang="en-US" sz="2800" b="0" dirty="0"/>
              <a:t> </a:t>
            </a:r>
          </a:p>
          <a:p>
            <a:endParaRPr lang="en-US" sz="2800" b="0" dirty="0"/>
          </a:p>
          <a:p>
            <a:endParaRPr lang="en-US" sz="2800" b="0" dirty="0"/>
          </a:p>
        </p:txBody>
      </p:sp>
    </p:spTree>
    <p:extLst>
      <p:ext uri="{BB962C8B-B14F-4D97-AF65-F5344CB8AC3E}">
        <p14:creationId xmlns:p14="http://schemas.microsoft.com/office/powerpoint/2010/main" val="7431729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7101F79-2CBF-4392-B538-B0B5700DB4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EF27CAA-32BA-4E6B-B8C0-1A481E08E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563378-38F8-4CB3-AF99-2C56FCF5540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0683" y="1022086"/>
            <a:ext cx="8674100" cy="5303393"/>
          </a:xfrm>
        </p:spPr>
        <p:txBody>
          <a:bodyPr/>
          <a:lstStyle/>
          <a:p>
            <a:r>
              <a:rPr lang="en-US" sz="2400" dirty="0"/>
              <a:t>Background:</a:t>
            </a:r>
          </a:p>
          <a:p>
            <a:pPr lvl="1"/>
            <a:r>
              <a:rPr lang="en-US" sz="2000" dirty="0"/>
              <a:t>Steam dominates the market, generating massive datasets: player behavior, commercial performance,…</a:t>
            </a:r>
            <a:endParaRPr lang="en-US" sz="2000" b="0" i="0" dirty="0">
              <a:solidFill>
                <a:srgbClr val="E2E2E5"/>
              </a:solidFill>
              <a:effectLst/>
              <a:latin typeface="Inter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2000" dirty="0"/>
              <a:t>Fragmentation: Data is scattered and historical data is not public.</a:t>
            </a:r>
          </a:p>
          <a:p>
            <a:pPr marL="285750" indent="-285750"/>
            <a:r>
              <a:rPr lang="en-US" dirty="0"/>
              <a:t>Target:</a:t>
            </a:r>
          </a:p>
          <a:p>
            <a:pPr lvl="1"/>
            <a:r>
              <a:rPr lang="en-US" sz="2000" dirty="0"/>
              <a:t>Scrape data from </a:t>
            </a:r>
            <a:r>
              <a:rPr lang="en-US" sz="2000" dirty="0" err="1"/>
              <a:t>SteamSpy</a:t>
            </a:r>
            <a:r>
              <a:rPr lang="en-US" sz="2000" dirty="0"/>
              <a:t> and Steam.</a:t>
            </a:r>
          </a:p>
          <a:p>
            <a:pPr lvl="1"/>
            <a:r>
              <a:rPr lang="en-US" sz="2000" dirty="0"/>
              <a:t>Clean, process streaming data using distributed framework.</a:t>
            </a:r>
          </a:p>
          <a:p>
            <a:pPr lvl="1"/>
            <a:r>
              <a:rPr lang="en-US" sz="2000" dirty="0"/>
              <a:t>Analyze the data using </a:t>
            </a:r>
            <a:r>
              <a:rPr lang="en-US" sz="2000" dirty="0" err="1"/>
              <a:t>PowerBI</a:t>
            </a:r>
            <a:r>
              <a:rPr lang="en-US" sz="2000" dirty="0"/>
              <a:t> and ML to provide useful/predictive insights.</a:t>
            </a:r>
          </a:p>
        </p:txBody>
      </p:sp>
    </p:spTree>
    <p:extLst>
      <p:ext uri="{BB962C8B-B14F-4D97-AF65-F5344CB8AC3E}">
        <p14:creationId xmlns:p14="http://schemas.microsoft.com/office/powerpoint/2010/main" val="2923640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CAB491A-024B-1CB9-104E-BE3A93F81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93" name="Rectangle 3092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74" name="Picture 2" descr="Welcome to Steam">
            <a:extLst>
              <a:ext uri="{FF2B5EF4-FFF2-40B4-BE49-F238E27FC236}">
                <a16:creationId xmlns:a16="http://schemas.microsoft.com/office/drawing/2014/main" id="{5571B665-77CB-E17F-BB06-4588371AB9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279" r="18237"/>
          <a:stretch>
            <a:fillRect/>
          </a:stretch>
        </p:blipFill>
        <p:spPr bwMode="auto">
          <a:xfrm>
            <a:off x="20" y="10"/>
            <a:ext cx="72522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94" name="Rectangle 3093">
            <a:extLst>
              <a:ext uri="{FF2B5EF4-FFF2-40B4-BE49-F238E27FC236}">
                <a16:creationId xmlns:a16="http://schemas.microsoft.com/office/drawing/2014/main" id="{D1EA859B-E555-4109-94F3-6700E046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843764" y="0"/>
            <a:ext cx="5300233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31FD0D7-46E9-C3A4-FDAD-30CE7A43D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48707" y="365125"/>
            <a:ext cx="2866642" cy="1899912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5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Data Source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EEF99A-243F-146D-2B1B-9D5178F184D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48707" y="2434200"/>
            <a:ext cx="2866642" cy="4201491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1700" dirty="0">
                <a:latin typeface="+mn-lt"/>
                <a:ea typeface="+mn-ea"/>
                <a:cs typeface="+mn-cs"/>
              </a:rPr>
              <a:t>Steam: the world biggest online game distribution platform</a:t>
            </a:r>
          </a:p>
          <a:p>
            <a:r>
              <a:rPr lang="en-US" sz="1700" dirty="0">
                <a:latin typeface="+mn-lt"/>
                <a:ea typeface="+mn-ea"/>
                <a:cs typeface="+mn-cs"/>
              </a:rPr>
              <a:t>Types of data:</a:t>
            </a:r>
          </a:p>
          <a:p>
            <a:pPr lvl="1"/>
            <a:r>
              <a:rPr lang="en-US" sz="1700" dirty="0">
                <a:latin typeface="+mn-lt"/>
                <a:ea typeface="+mn-ea"/>
                <a:cs typeface="+mn-cs"/>
              </a:rPr>
              <a:t>Game details: id, price, rating, current players, …</a:t>
            </a:r>
          </a:p>
          <a:p>
            <a:pPr lvl="1"/>
            <a:r>
              <a:rPr lang="en-US" sz="1700" dirty="0">
                <a:latin typeface="+mn-lt"/>
                <a:ea typeface="+mn-ea"/>
                <a:cs typeface="+mn-cs"/>
              </a:rPr>
              <a:t>Game reviews: user ratings, comments, play time</a:t>
            </a:r>
          </a:p>
          <a:p>
            <a:pPr lvl="1"/>
            <a:r>
              <a:rPr lang="en-US" sz="1700" dirty="0" err="1">
                <a:latin typeface="+mn-lt"/>
                <a:ea typeface="+mn-ea"/>
                <a:cs typeface="+mn-cs"/>
              </a:rPr>
              <a:t>SteamSpy</a:t>
            </a:r>
            <a:r>
              <a:rPr lang="en-US" sz="1700" dirty="0">
                <a:latin typeface="+mn-lt"/>
                <a:ea typeface="+mn-ea"/>
                <a:cs typeface="+mn-cs"/>
              </a:rPr>
              <a:t> data: backfill data about real-time info (past price/player online)</a:t>
            </a:r>
          </a:p>
          <a:p>
            <a:pPr lvl="1"/>
            <a:endParaRPr lang="en-US" sz="1700" dirty="0">
              <a:latin typeface="+mn-lt"/>
              <a:ea typeface="+mn-ea"/>
              <a:cs typeface="+mn-cs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443EA9C-0667-1FD6-4940-EC5B44D58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0"/>
            <a:ext cx="20574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  <a:defRPr/>
            </a:pPr>
            <a:fld id="{9EA0BE3B-158A-4EDF-80DC-E394A0D1600F}" type="slidenum">
              <a:rPr lang="en-US" b="0" smtClean="0">
                <a:solidFill>
                  <a:prstClr val="black">
                    <a:tint val="75000"/>
                  </a:prstClr>
                </a:solidFill>
                <a:latin typeface="Calibri" panose="020F0502020204030204"/>
                <a:ea typeface="+mn-ea"/>
                <a:cs typeface="+mn-cs"/>
              </a:rPr>
              <a:pPr defTabSz="914400">
                <a:spcAft>
                  <a:spcPts val="600"/>
                </a:spcAft>
                <a:defRPr/>
              </a:pPr>
              <a:t>3</a:t>
            </a:fld>
            <a:endParaRPr lang="en-US" b="0">
              <a:solidFill>
                <a:prstClr val="black">
                  <a:tint val="75000"/>
                </a:prst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62599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E9CAB07-B0CD-4712-9734-2D3CBC7259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39C6F49-1887-4BE4-A583-FB79B8A229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Architectural Approach</a:t>
            </a:r>
          </a:p>
        </p:txBody>
      </p:sp>
      <p:sp>
        <p:nvSpPr>
          <p:cNvPr id="8" name="AutoShape 8">
            <a:extLst>
              <a:ext uri="{FF2B5EF4-FFF2-40B4-BE49-F238E27FC236}">
                <a16:creationId xmlns:a16="http://schemas.microsoft.com/office/drawing/2014/main" id="{85E3E5B9-2A39-9A73-79C7-9D615A5D729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2847474" cy="28474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" name="AutoShape 10">
            <a:extLst>
              <a:ext uri="{FF2B5EF4-FFF2-40B4-BE49-F238E27FC236}">
                <a16:creationId xmlns:a16="http://schemas.microsoft.com/office/drawing/2014/main" id="{4810977F-B75F-2C47-A2A4-B20CC8CEE24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165684" y="1022684"/>
            <a:ext cx="2558716" cy="25587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606E6B3E-16B1-44D2-9FC3-620805C10757}"/>
              </a:ext>
            </a:extLst>
          </p:cNvPr>
          <p:cNvSpPr txBox="1">
            <a:spLocks/>
          </p:cNvSpPr>
          <p:nvPr/>
        </p:nvSpPr>
        <p:spPr>
          <a:xfrm>
            <a:off x="250683" y="1022086"/>
            <a:ext cx="8674100" cy="530339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b="1" dirty="0"/>
              <a:t>Kappa Architecture </a:t>
            </a:r>
            <a:r>
              <a:rPr lang="en-US" sz="2400" dirty="0"/>
              <a:t>for unified processing between batch/stream data</a:t>
            </a:r>
          </a:p>
          <a:p>
            <a:r>
              <a:rPr lang="en-US" sz="2400" b="1" dirty="0"/>
              <a:t>Key Objectives:</a:t>
            </a:r>
          </a:p>
          <a:p>
            <a:pPr lvl="1"/>
            <a:r>
              <a:rPr lang="en-US" sz="2000" dirty="0"/>
              <a:t>Recovering game catalogs and historical reviews/player counts</a:t>
            </a:r>
          </a:p>
          <a:p>
            <a:pPr lvl="1"/>
            <a:r>
              <a:rPr lang="en-US" sz="2000" dirty="0"/>
              <a:t>Capturing new games/reviews within minutes</a:t>
            </a:r>
          </a:p>
          <a:p>
            <a:pPr lvl="1"/>
            <a:r>
              <a:rPr lang="en-US" sz="2000" dirty="0"/>
              <a:t>Distribute the system on Kubernetes for better processing power/error handling/auto distribution.</a:t>
            </a:r>
          </a:p>
          <a:p>
            <a:pPr lvl="1"/>
            <a:endParaRPr lang="en-US" sz="2000" dirty="0"/>
          </a:p>
          <a:p>
            <a:pPr marL="0" indent="0">
              <a:buNone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7513584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E9CAB07-B0CD-4712-9734-2D3CBC7259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39C6F49-1887-4BE4-A583-FB79B8A229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Architecture &amp; Design</a:t>
            </a:r>
          </a:p>
        </p:txBody>
      </p:sp>
      <p:sp>
        <p:nvSpPr>
          <p:cNvPr id="8" name="AutoShape 8">
            <a:extLst>
              <a:ext uri="{FF2B5EF4-FFF2-40B4-BE49-F238E27FC236}">
                <a16:creationId xmlns:a16="http://schemas.microsoft.com/office/drawing/2014/main" id="{85E3E5B9-2A39-9A73-79C7-9D615A5D729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2847474" cy="28474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" name="AutoShape 10">
            <a:extLst>
              <a:ext uri="{FF2B5EF4-FFF2-40B4-BE49-F238E27FC236}">
                <a16:creationId xmlns:a16="http://schemas.microsoft.com/office/drawing/2014/main" id="{4810977F-B75F-2C47-A2A4-B20CC8CEE24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165684" y="1022684"/>
            <a:ext cx="2558716" cy="25587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9326354-12F3-46D5-B4C9-EACC47ECBB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86655"/>
            <a:ext cx="9144000" cy="2361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46399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AB491A-024B-1CB9-104E-BE3A93F81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31FD0D7-46E9-C3A4-FDAD-30CE7A43D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973" y="0"/>
            <a:ext cx="6414662" cy="671129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dirty="0"/>
              <a:t>Infrastructure Implementation</a:t>
            </a:r>
            <a:endParaRPr lang="en-US" b="1" i="0" dirty="0">
              <a:solidFill>
                <a:srgbClr val="E2E2E5"/>
              </a:solidFill>
              <a:effectLst/>
              <a:latin typeface="Inter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443EA9C-0667-1FD6-4940-EC5B44D58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0"/>
            <a:ext cx="20574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  <a:defRPr/>
            </a:pPr>
            <a:fld id="{9EA0BE3B-158A-4EDF-80DC-E394A0D1600F}" type="slidenum">
              <a:rPr lang="en-US" b="0" smtClean="0">
                <a:solidFill>
                  <a:prstClr val="black">
                    <a:tint val="75000"/>
                  </a:prstClr>
                </a:solidFill>
                <a:latin typeface="Calibri" panose="020F0502020204030204"/>
                <a:ea typeface="+mn-ea"/>
                <a:cs typeface="+mn-cs"/>
              </a:rPr>
              <a:pPr defTabSz="914400">
                <a:spcAft>
                  <a:spcPts val="600"/>
                </a:spcAft>
                <a:defRPr/>
              </a:pPr>
              <a:t>6</a:t>
            </a:fld>
            <a:endParaRPr lang="en-US" b="0">
              <a:solidFill>
                <a:prstClr val="black">
                  <a:tint val="75000"/>
                </a:prst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58E71CEF-B0FE-499C-954A-B92935F7D9E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0683" y="1022086"/>
            <a:ext cx="8674100" cy="5303393"/>
          </a:xfrm>
        </p:spPr>
        <p:txBody>
          <a:bodyPr/>
          <a:lstStyle/>
          <a:p>
            <a:r>
              <a:rPr lang="en-US" sz="2400" dirty="0"/>
              <a:t>Cluster Setup:</a:t>
            </a:r>
          </a:p>
          <a:p>
            <a:pPr lvl="1"/>
            <a:r>
              <a:rPr lang="en-US" sz="2000" dirty="0"/>
              <a:t>Deployed on a distributed cluster of personal laptops.</a:t>
            </a:r>
          </a:p>
          <a:p>
            <a:pPr lvl="1"/>
            <a:r>
              <a:rPr lang="en-US" sz="2000" dirty="0" err="1"/>
              <a:t>Tailscale</a:t>
            </a:r>
            <a:r>
              <a:rPr lang="en-US" sz="2000" dirty="0"/>
              <a:t> (Mesh VPN): Creates a flat, encrypted overlay network, allowing nodes to communicate across NAT boundaries as if they were on a local LAN.</a:t>
            </a:r>
          </a:p>
          <a:p>
            <a:r>
              <a:rPr lang="en-US" sz="2400" dirty="0"/>
              <a:t>Orchestration Stack:</a:t>
            </a:r>
          </a:p>
          <a:p>
            <a:pPr lvl="1"/>
            <a:r>
              <a:rPr lang="en-US" sz="2000" dirty="0"/>
              <a:t>Kubernetes with k3s: A lightweight K8s distribution.</a:t>
            </a:r>
          </a:p>
          <a:p>
            <a:pPr lvl="1"/>
            <a:r>
              <a:rPr lang="en-US" sz="2000" dirty="0"/>
              <a:t>Helm: Used to manage complex distributed deployments:</a:t>
            </a:r>
          </a:p>
          <a:p>
            <a:pPr lvl="2"/>
            <a:r>
              <a:rPr lang="en-US" sz="1600" dirty="0" err="1"/>
              <a:t>Strimzi</a:t>
            </a:r>
            <a:r>
              <a:rPr lang="en-US" sz="1600" dirty="0"/>
              <a:t> Operator for Kafka.</a:t>
            </a:r>
          </a:p>
          <a:p>
            <a:pPr lvl="2"/>
            <a:r>
              <a:rPr lang="en-US" sz="1600" dirty="0"/>
              <a:t>Spark Operator for application lifecycle.</a:t>
            </a:r>
          </a:p>
          <a:p>
            <a:pPr lvl="2"/>
            <a:r>
              <a:rPr lang="en-US" sz="1600" dirty="0"/>
              <a:t>HDFS for distributed storage.</a:t>
            </a:r>
          </a:p>
        </p:txBody>
      </p:sp>
      <p:pic>
        <p:nvPicPr>
          <p:cNvPr id="1026" name="Picture 2" descr="Kubernetes | Critical Components of Kubernetes Cluster">
            <a:extLst>
              <a:ext uri="{FF2B5EF4-FFF2-40B4-BE49-F238E27FC236}">
                <a16:creationId xmlns:a16="http://schemas.microsoft.com/office/drawing/2014/main" id="{106167C9-1C1F-43A8-B068-95A04754DF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85064" y="4530671"/>
            <a:ext cx="3858936" cy="17948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341044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7101F79-2CBF-4392-B538-B0B5700DB4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EF27CAA-32BA-4E6B-B8C0-1A481E08E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Ingestion Layer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3602DB0-775F-48D6-A859-B4A185120367}"/>
              </a:ext>
            </a:extLst>
          </p:cNvPr>
          <p:cNvSpPr txBox="1"/>
          <p:nvPr/>
        </p:nvSpPr>
        <p:spPr>
          <a:xfrm>
            <a:off x="497940" y="1011929"/>
            <a:ext cx="500728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Kafka: 3 Producers &amp; Topics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Retention: -1ms (indefinite)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For historical data: bootstrap Kafka using </a:t>
            </a:r>
          </a:p>
          <a:p>
            <a:r>
              <a:rPr lang="en-US" sz="1600" dirty="0"/>
              <a:t>mined historical data.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225EAA6-E45A-4692-8120-F6493B548A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419137"/>
            <a:ext cx="4325904" cy="42642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03366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7101F79-2CBF-4392-B538-B0B5700DB4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EF27CAA-32BA-4E6B-B8C0-1A481E08E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Processing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AB48EA9-15F8-9DA3-2FF3-A207E8B5B2C7}"/>
              </a:ext>
            </a:extLst>
          </p:cNvPr>
          <p:cNvSpPr txBox="1"/>
          <p:nvPr/>
        </p:nvSpPr>
        <p:spPr>
          <a:xfrm>
            <a:off x="1174544" y="3475478"/>
            <a:ext cx="1615420" cy="64633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SILVER</a:t>
            </a:r>
          </a:p>
          <a:p>
            <a:pPr algn="ctr"/>
            <a:r>
              <a:rPr lang="en-US" sz="1200" dirty="0"/>
              <a:t>Cleaning + Normalizing + null handling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843A9C-DA36-1CAA-4643-077BA5872EC3}"/>
              </a:ext>
            </a:extLst>
          </p:cNvPr>
          <p:cNvSpPr txBox="1"/>
          <p:nvPr/>
        </p:nvSpPr>
        <p:spPr>
          <a:xfrm>
            <a:off x="1200299" y="5008066"/>
            <a:ext cx="1634732" cy="646331"/>
          </a:xfrm>
          <a:prstGeom prst="rect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GOLD</a:t>
            </a:r>
          </a:p>
          <a:p>
            <a:pPr algn="ctr"/>
            <a:r>
              <a:rPr lang="en-US" sz="1200" dirty="0"/>
              <a:t>Advanced transform + Analytics</a:t>
            </a:r>
          </a:p>
        </p:txBody>
      </p:sp>
      <p:sp>
        <p:nvSpPr>
          <p:cNvPr id="10" name="Arrow: Down 9">
            <a:extLst>
              <a:ext uri="{FF2B5EF4-FFF2-40B4-BE49-F238E27FC236}">
                <a16:creationId xmlns:a16="http://schemas.microsoft.com/office/drawing/2014/main" id="{DF1F5A94-8992-3091-5025-323A64FEE9A5}"/>
              </a:ext>
            </a:extLst>
          </p:cNvPr>
          <p:cNvSpPr/>
          <p:nvPr/>
        </p:nvSpPr>
        <p:spPr>
          <a:xfrm>
            <a:off x="1824773" y="2719959"/>
            <a:ext cx="204906" cy="41449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2239792-9245-81CA-86A6-278EEEC179A6}"/>
              </a:ext>
            </a:extLst>
          </p:cNvPr>
          <p:cNvSpPr txBox="1"/>
          <p:nvPr/>
        </p:nvSpPr>
        <p:spPr>
          <a:xfrm>
            <a:off x="1506511" y="2323321"/>
            <a:ext cx="14299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RAW DATA</a:t>
            </a:r>
          </a:p>
        </p:txBody>
      </p:sp>
      <p:pic>
        <p:nvPicPr>
          <p:cNvPr id="18" name="Picture 12" descr="PySpark Overview — PySpark 4.0.1 ...">
            <a:extLst>
              <a:ext uri="{FF2B5EF4-FFF2-40B4-BE49-F238E27FC236}">
                <a16:creationId xmlns:a16="http://schemas.microsoft.com/office/drawing/2014/main" id="{B60BBDDA-E39A-8534-918C-8DB722887A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9629" y="959634"/>
            <a:ext cx="1909831" cy="10169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B3602DB0-775F-48D6-A859-B4A185120367}"/>
              </a:ext>
            </a:extLst>
          </p:cNvPr>
          <p:cNvSpPr txBox="1"/>
          <p:nvPr/>
        </p:nvSpPr>
        <p:spPr>
          <a:xfrm>
            <a:off x="3171039" y="1566080"/>
            <a:ext cx="5913292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Silver Layer (Refinement):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Schema Enforcement: Converts raw JSON to strict </a:t>
            </a:r>
            <a:r>
              <a:rPr lang="en-US" dirty="0" err="1"/>
              <a:t>StructTypes</a:t>
            </a:r>
            <a:r>
              <a:rPr lang="en-US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Evolution Handling: explicit NULL injection for historical fields.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Sanitization: Regex-based cleaning.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Gold Layer (Complex Aggregations):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Windowing Strategy: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dirty="0"/>
              <a:t>Player Trends: 30-minute tumbling windows to calculate Max/Avg concurrency.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dirty="0"/>
              <a:t>Sentiment: 1-hour tumbling windows to track "Positive vs. Negative" ratios.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Watermarking: configured to handle late-arriving data and out-of-order network packets before finalizing results.</a:t>
            </a:r>
          </a:p>
          <a:p>
            <a:pPr lvl="1"/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endParaRPr lang="en-US" dirty="0"/>
          </a:p>
        </p:txBody>
      </p:sp>
      <p:sp>
        <p:nvSpPr>
          <p:cNvPr id="20" name="Arrow: Down 19">
            <a:extLst>
              <a:ext uri="{FF2B5EF4-FFF2-40B4-BE49-F238E27FC236}">
                <a16:creationId xmlns:a16="http://schemas.microsoft.com/office/drawing/2014/main" id="{DA8CC27A-A1DC-485A-9272-5B428D359D33}"/>
              </a:ext>
            </a:extLst>
          </p:cNvPr>
          <p:cNvSpPr/>
          <p:nvPr/>
        </p:nvSpPr>
        <p:spPr>
          <a:xfrm>
            <a:off x="1882247" y="4339479"/>
            <a:ext cx="204906" cy="41449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52383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AB491A-024B-1CB9-104E-BE3A93F81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31FD0D7-46E9-C3A4-FDAD-30CE7A43D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973" y="0"/>
            <a:ext cx="6414662" cy="671129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dirty="0"/>
              <a:t>Dual-Sink Storage Pattern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443EA9C-0667-1FD6-4940-EC5B44D58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0"/>
            <a:ext cx="20574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  <a:defRPr/>
            </a:pPr>
            <a:fld id="{9EA0BE3B-158A-4EDF-80DC-E394A0D1600F}" type="slidenum">
              <a:rPr lang="en-US" b="0" smtClean="0">
                <a:solidFill>
                  <a:prstClr val="black">
                    <a:tint val="75000"/>
                  </a:prstClr>
                </a:solidFill>
                <a:latin typeface="Calibri" panose="020F0502020204030204"/>
                <a:ea typeface="+mn-ea"/>
                <a:cs typeface="+mn-cs"/>
              </a:rPr>
              <a:pPr defTabSz="914400">
                <a:spcAft>
                  <a:spcPts val="600"/>
                </a:spcAft>
                <a:defRPr/>
              </a:pPr>
              <a:t>9</a:t>
            </a:fld>
            <a:endParaRPr lang="en-US" b="0">
              <a:solidFill>
                <a:prstClr val="black">
                  <a:tint val="75000"/>
                </a:prst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DBE72270-D58F-510A-21FD-2D34A177BB5E}"/>
              </a:ext>
            </a:extLst>
          </p:cNvPr>
          <p:cNvSpPr>
            <a:spLocks noGrp="1"/>
          </p:cNvSpPr>
          <p:nvPr/>
        </p:nvSpPr>
        <p:spPr>
          <a:xfrm>
            <a:off x="234950" y="963461"/>
            <a:ext cx="8674100" cy="4931079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>
                <a:latin typeface="+mn-lt"/>
                <a:ea typeface="+mn-ea"/>
                <a:cs typeface="+mn-cs"/>
              </a:rPr>
              <a:t>The Challenge:</a:t>
            </a:r>
          </a:p>
          <a:p>
            <a:pPr lvl="1"/>
            <a:r>
              <a:rPr lang="en-US" sz="2000" dirty="0">
                <a:latin typeface="+mn-lt"/>
                <a:ea typeface="+mn-ea"/>
                <a:cs typeface="+mn-cs"/>
              </a:rPr>
              <a:t>Analytical users need deep history</a:t>
            </a:r>
          </a:p>
          <a:p>
            <a:pPr lvl="1"/>
            <a:r>
              <a:rPr lang="en-US" sz="2000" dirty="0">
                <a:latin typeface="+mn-lt"/>
                <a:ea typeface="+mn-ea"/>
                <a:cs typeface="+mn-cs"/>
              </a:rPr>
              <a:t>Dashboard users need sub-second responsiveness</a:t>
            </a:r>
          </a:p>
          <a:p>
            <a:r>
              <a:rPr lang="en-US" sz="2400" dirty="0">
                <a:latin typeface="+mn-lt"/>
                <a:ea typeface="+mn-ea"/>
                <a:cs typeface="+mn-cs"/>
              </a:rPr>
              <a:t>The Solution: Dual Sink</a:t>
            </a:r>
          </a:p>
          <a:p>
            <a:pPr lvl="1"/>
            <a:r>
              <a:rPr lang="en-US" sz="2000" dirty="0">
                <a:latin typeface="+mn-lt"/>
                <a:ea typeface="+mn-ea"/>
                <a:cs typeface="+mn-cs"/>
              </a:rPr>
              <a:t>Sink 1: Data Lake (Apache Iceberg over HDFS)</a:t>
            </a:r>
          </a:p>
          <a:p>
            <a:pPr lvl="1"/>
            <a:r>
              <a:rPr lang="en-US" sz="2000" dirty="0">
                <a:latin typeface="+mn-lt"/>
                <a:ea typeface="+mn-ea"/>
                <a:cs typeface="+mn-cs"/>
              </a:rPr>
              <a:t>Sink 2: Operational Store (MongoDB)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3AA95CA-6185-4AFF-BB44-0FBEF7F7AD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6844" y="3292475"/>
            <a:ext cx="4354474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8130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AB491A-024B-1CB9-104E-BE3A93F81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31FD0D7-46E9-C3A4-FDAD-30CE7A43D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973" y="0"/>
            <a:ext cx="6414662" cy="671129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Quality Assurance &amp; Observability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443EA9C-0667-1FD6-4940-EC5B44D58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0"/>
            <a:ext cx="20574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  <a:defRPr/>
            </a:pPr>
            <a:fld id="{9EA0BE3B-158A-4EDF-80DC-E394A0D1600F}" type="slidenum">
              <a:rPr lang="en-US" b="0" smtClean="0">
                <a:solidFill>
                  <a:prstClr val="black">
                    <a:tint val="75000"/>
                  </a:prstClr>
                </a:solidFill>
                <a:latin typeface="Calibri" panose="020F0502020204030204"/>
                <a:ea typeface="+mn-ea"/>
                <a:cs typeface="+mn-cs"/>
              </a:rPr>
              <a:pPr defTabSz="914400">
                <a:spcAft>
                  <a:spcPts val="600"/>
                </a:spcAft>
                <a:defRPr/>
              </a:pPr>
              <a:t>10</a:t>
            </a:fld>
            <a:endParaRPr lang="en-US" b="0">
              <a:solidFill>
                <a:prstClr val="black">
                  <a:tint val="75000"/>
                </a:prst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58E71CEF-B0FE-499C-954A-B92935F7D9E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0683" y="1022086"/>
            <a:ext cx="8674100" cy="5303393"/>
          </a:xfrm>
        </p:spPr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sz="2400" dirty="0">
                <a:effectLst/>
                <a:latin typeface="+mn-lt"/>
              </a:rPr>
              <a:t>Data Quality (The Promotion Gate):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2000" dirty="0">
                <a:effectLst/>
                <a:latin typeface="+mn-lt"/>
              </a:rPr>
              <a:t>Implemented using </a:t>
            </a:r>
            <a:r>
              <a:rPr lang="en-US" sz="2000" dirty="0" err="1">
                <a:effectLst/>
                <a:latin typeface="+mn-lt"/>
              </a:rPr>
              <a:t>PyDeequ</a:t>
            </a:r>
            <a:endParaRPr lang="en-US" sz="2000" dirty="0">
              <a:effectLst/>
              <a:latin typeface="+mn-lt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2000" dirty="0">
                <a:effectLst/>
                <a:latin typeface="+mn-lt"/>
              </a:rPr>
              <a:t>Strategy: Data lands in a staging area first.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2000" dirty="0">
                <a:effectLst/>
                <a:latin typeface="+mn-lt"/>
              </a:rPr>
              <a:t>Verification Suites:</a:t>
            </a:r>
          </a:p>
          <a:p>
            <a:pPr marL="1143000" lvl="2" indent="-228600" algn="l">
              <a:buFont typeface="Arial" panose="020B0604020202020204" pitchFamily="34" charset="0"/>
              <a:buChar char="•"/>
            </a:pPr>
            <a:r>
              <a:rPr lang="en-US" sz="1800" dirty="0">
                <a:effectLst/>
                <a:latin typeface="+mn-lt"/>
              </a:rPr>
              <a:t>Critical: Checks for NULL primary keys or duplicates. Action: Block promotion.</a:t>
            </a:r>
          </a:p>
          <a:p>
            <a:pPr marL="1143000" lvl="2" indent="-228600" algn="l">
              <a:buFont typeface="Arial" panose="020B0604020202020204" pitchFamily="34" charset="0"/>
              <a:buChar char="•"/>
            </a:pPr>
            <a:r>
              <a:rPr lang="en-US" sz="1800" dirty="0">
                <a:effectLst/>
                <a:latin typeface="+mn-lt"/>
              </a:rPr>
              <a:t>Warning: Checks for business logic anomalies (e.g., negative prices). Action: Alert but proceed.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dirty="0">
                <a:effectLst/>
                <a:latin typeface="+mn-lt"/>
              </a:rPr>
              <a:t>System Observability: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2000" dirty="0">
                <a:effectLst/>
                <a:latin typeface="+mn-lt"/>
              </a:rPr>
              <a:t>Prometheus: Scrapes metrics from Kafka, MongoDB, and K8s pods every 15 seconds.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2000" dirty="0">
                <a:effectLst/>
                <a:latin typeface="+mn-lt"/>
              </a:rPr>
              <a:t>Grafana: Visualizes infrastructure health together with the dashboards.</a:t>
            </a:r>
          </a:p>
        </p:txBody>
      </p:sp>
    </p:spTree>
    <p:extLst>
      <p:ext uri="{BB962C8B-B14F-4D97-AF65-F5344CB8AC3E}">
        <p14:creationId xmlns:p14="http://schemas.microsoft.com/office/powerpoint/2010/main" val="32439700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AB491A-024B-1CB9-104E-BE3A93F81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31FD0D7-46E9-C3A4-FDAD-30CE7A43D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973" y="0"/>
            <a:ext cx="6414662" cy="671129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Data Consumers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443EA9C-0667-1FD6-4940-EC5B44D58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0"/>
            <a:ext cx="20574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  <a:defRPr/>
            </a:pPr>
            <a:fld id="{9EA0BE3B-158A-4EDF-80DC-E394A0D1600F}" type="slidenum">
              <a:rPr lang="en-US" b="0" smtClean="0">
                <a:solidFill>
                  <a:prstClr val="black">
                    <a:tint val="75000"/>
                  </a:prstClr>
                </a:solidFill>
                <a:latin typeface="Calibri" panose="020F0502020204030204"/>
                <a:ea typeface="+mn-ea"/>
                <a:cs typeface="+mn-cs"/>
              </a:rPr>
              <a:pPr defTabSz="914400">
                <a:spcAft>
                  <a:spcPts val="600"/>
                </a:spcAft>
                <a:defRPr/>
              </a:pPr>
              <a:t>11</a:t>
            </a:fld>
            <a:endParaRPr lang="en-US" b="0">
              <a:solidFill>
                <a:prstClr val="black">
                  <a:tint val="75000"/>
                </a:prst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58E71CEF-B0FE-499C-954A-B92935F7D9E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0683" y="1022086"/>
            <a:ext cx="8674100" cy="5303393"/>
          </a:xfrm>
        </p:spPr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sz="1800" dirty="0">
                <a:effectLst/>
                <a:latin typeface="Inter"/>
              </a:rPr>
              <a:t>Interactive Dashboards (Grafana):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1600" dirty="0">
                <a:effectLst/>
                <a:latin typeface="Inter"/>
              </a:rPr>
              <a:t>Hybrid Data Source: Uniquely combines Prometheus (for pipeline latency/health) and MongoDB (for game metrics) into a single pane of glass.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1600" dirty="0">
                <a:effectLst/>
                <a:latin typeface="Inter"/>
              </a:rPr>
              <a:t>Automation: Dashboards are version-controlled via JSON and auto-provisioned at container startup.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800" dirty="0">
                <a:effectLst/>
                <a:latin typeface="Inter"/>
              </a:rPr>
              <a:t>Predictive Modeling (</a:t>
            </a:r>
            <a:r>
              <a:rPr lang="en-US" sz="1800" dirty="0" err="1">
                <a:effectLst/>
                <a:latin typeface="Inter"/>
              </a:rPr>
              <a:t>SparkML</a:t>
            </a:r>
            <a:r>
              <a:rPr lang="en-US" sz="1800" dirty="0">
                <a:effectLst/>
                <a:latin typeface="Inter"/>
              </a:rPr>
              <a:t>):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1600" dirty="0">
                <a:effectLst/>
                <a:latin typeface="Inter"/>
              </a:rPr>
              <a:t>Objective: Forecasting Player Count Trends.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1600" dirty="0">
                <a:effectLst/>
                <a:latin typeface="Inter"/>
              </a:rPr>
              <a:t>Pipeline:</a:t>
            </a:r>
          </a:p>
          <a:p>
            <a:pPr marL="1143000" lvl="2" indent="-228600" algn="l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Inter"/>
              </a:rPr>
              <a:t>Training: Uses the deep historical baselines stored in Apache Iceberg (Silver Layer) to train Time Series or Linear Regression models.</a:t>
            </a:r>
          </a:p>
          <a:p>
            <a:pPr marL="1143000" lvl="2" indent="-228600" algn="l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Inter"/>
              </a:rPr>
              <a:t>Features: </a:t>
            </a:r>
            <a:r>
              <a:rPr lang="en-US" sz="1400" dirty="0">
                <a:effectLst/>
                <a:latin typeface="DM Mono"/>
              </a:rPr>
              <a:t>avg_playtime_2weeks</a:t>
            </a:r>
            <a:r>
              <a:rPr lang="en-US" sz="1400" dirty="0">
                <a:effectLst/>
                <a:latin typeface="Inter"/>
              </a:rPr>
              <a:t>, </a:t>
            </a:r>
            <a:r>
              <a:rPr lang="en-US" sz="1400" dirty="0" err="1">
                <a:effectLst/>
                <a:latin typeface="DM Mono"/>
              </a:rPr>
              <a:t>price_segment</a:t>
            </a:r>
            <a:r>
              <a:rPr lang="en-US" sz="1400" dirty="0">
                <a:effectLst/>
                <a:latin typeface="Inter"/>
              </a:rPr>
              <a:t>, and historical </a:t>
            </a:r>
            <a:r>
              <a:rPr lang="en-US" sz="1400" dirty="0" err="1">
                <a:effectLst/>
                <a:latin typeface="DM Mono"/>
              </a:rPr>
              <a:t>peak_players</a:t>
            </a:r>
            <a:r>
              <a:rPr lang="en-US" sz="1400" dirty="0">
                <a:effectLst/>
                <a:latin typeface="Inter"/>
              </a:rPr>
              <a:t>.</a:t>
            </a:r>
          </a:p>
          <a:p>
            <a:pPr marL="1143000" lvl="2" indent="-228600" algn="l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Inter"/>
              </a:rPr>
              <a:t>Inference: Predicts traffic spikes for upcoming weekends or sales events, allowing for proactive resource planning.</a:t>
            </a:r>
          </a:p>
        </p:txBody>
      </p:sp>
    </p:spTree>
    <p:extLst>
      <p:ext uri="{BB962C8B-B14F-4D97-AF65-F5344CB8AC3E}">
        <p14:creationId xmlns:p14="http://schemas.microsoft.com/office/powerpoint/2010/main" val="20472037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AB491A-024B-1CB9-104E-BE3A93F81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31FD0D7-46E9-C3A4-FDAD-30CE7A43D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973" y="0"/>
            <a:ext cx="6414662" cy="671129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Dashboard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443EA9C-0667-1FD6-4940-EC5B44D58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0"/>
            <a:ext cx="20574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  <a:defRPr/>
            </a:pPr>
            <a:fld id="{9EA0BE3B-158A-4EDF-80DC-E394A0D1600F}" type="slidenum">
              <a:rPr lang="en-US" b="0" smtClean="0">
                <a:solidFill>
                  <a:prstClr val="black">
                    <a:tint val="75000"/>
                  </a:prstClr>
                </a:solidFill>
                <a:latin typeface="Calibri" panose="020F0502020204030204"/>
                <a:ea typeface="+mn-ea"/>
                <a:cs typeface="+mn-cs"/>
              </a:rPr>
              <a:pPr defTabSz="914400">
                <a:spcAft>
                  <a:spcPts val="600"/>
                </a:spcAft>
                <a:defRPr/>
              </a:pPr>
              <a:t>12</a:t>
            </a:fld>
            <a:endParaRPr lang="en-US" b="0">
              <a:solidFill>
                <a:prstClr val="black">
                  <a:tint val="75000"/>
                </a:prst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099386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A37B5C8-2095-4D2D-97FE-E4E8D89379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Title 10">
            <a:extLst>
              <a:ext uri="{FF2B5EF4-FFF2-40B4-BE49-F238E27FC236}">
                <a16:creationId xmlns:a16="http://schemas.microsoft.com/office/drawing/2014/main" id="{F78B3876-6ECC-4098-BDD1-C48CE4B42721}"/>
              </a:ext>
            </a:extLst>
          </p:cNvPr>
          <p:cNvSpPr txBox="1">
            <a:spLocks/>
          </p:cNvSpPr>
          <p:nvPr/>
        </p:nvSpPr>
        <p:spPr>
          <a:xfrm>
            <a:off x="4181094" y="3021991"/>
            <a:ext cx="4197975" cy="814017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b="1" kern="1200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sz="4800" dirty="0"/>
              <a:t>THANK YOU !</a:t>
            </a:r>
          </a:p>
        </p:txBody>
      </p:sp>
    </p:spTree>
    <p:extLst>
      <p:ext uri="{BB962C8B-B14F-4D97-AF65-F5344CB8AC3E}">
        <p14:creationId xmlns:p14="http://schemas.microsoft.com/office/powerpoint/2010/main" val="28305356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D4B0F567DB6A048A3BD294556057AFF" ma:contentTypeVersion="10" ma:contentTypeDescription="Create a new document." ma:contentTypeScope="" ma:versionID="31c0f740d92a5fb9e81516f754310f2c">
  <xsd:schema xmlns:xsd="http://www.w3.org/2001/XMLSchema" xmlns:xs="http://www.w3.org/2001/XMLSchema" xmlns:p="http://schemas.microsoft.com/office/2006/metadata/properties" xmlns:ns3="2a578b54-47b9-4ee9-8bf0-b042a4683d6c" targetNamespace="http://schemas.microsoft.com/office/2006/metadata/properties" ma:root="true" ma:fieldsID="e063773740d8993c43ca851e59441d5c" ns3:_="">
    <xsd:import namespace="2a578b54-47b9-4ee9-8bf0-b042a4683d6c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BillingMetadata" minOccurs="0"/>
                <xsd:element ref="ns3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a578b54-47b9-4ee9-8bf0-b042a4683d6c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BillingMetadata" ma:index="16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ServiceLocation" ma:index="17" nillable="true" ma:displayName="Location" ma:indexed="true" ma:internalName="MediaServiceLocatio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ACB3463-96C8-488B-B922-45134A704552}">
  <ds:schemaRefs>
    <ds:schemaRef ds:uri="http://schemas.openxmlformats.org/package/2006/metadata/core-properties"/>
    <ds:schemaRef ds:uri="http://purl.org/dc/terms/"/>
    <ds:schemaRef ds:uri="2a578b54-47b9-4ee9-8bf0-b042a4683d6c"/>
    <ds:schemaRef ds:uri="http://schemas.microsoft.com/office/infopath/2007/PartnerControls"/>
    <ds:schemaRef ds:uri="http://schemas.microsoft.com/office/2006/documentManagement/types"/>
    <ds:schemaRef ds:uri="http://purl.org/dc/elements/1.1/"/>
    <ds:schemaRef ds:uri="http://schemas.microsoft.com/office/2006/metadata/properties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BC15E98E-1142-43DA-ABA7-DE52E5B52EB8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327E607-237F-4AF9-B8C0-BBD832EEBA3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a578b54-47b9-4ee9-8bf0-b042a4683d6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416</TotalTime>
  <Words>672</Words>
  <Application>Microsoft Office PowerPoint</Application>
  <PresentationFormat>On-screen Show (4:3)</PresentationFormat>
  <Paragraphs>102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0" baseType="lpstr">
      <vt:lpstr>DM Mono</vt:lpstr>
      <vt:lpstr>Inter</vt:lpstr>
      <vt:lpstr>Arial</vt:lpstr>
      <vt:lpstr>Calibri</vt:lpstr>
      <vt:lpstr>Calibri Light</vt:lpstr>
      <vt:lpstr>Lato</vt:lpstr>
      <vt:lpstr>Office Theme</vt:lpstr>
      <vt:lpstr>PowerPoint Presentation</vt:lpstr>
      <vt:lpstr>Problem</vt:lpstr>
      <vt:lpstr>Data Source</vt:lpstr>
      <vt:lpstr>Architectural Approach</vt:lpstr>
      <vt:lpstr>System Architecture &amp; Design</vt:lpstr>
      <vt:lpstr>Infrastructure Implementation</vt:lpstr>
      <vt:lpstr>Ingestion Layer</vt:lpstr>
      <vt:lpstr>Processing</vt:lpstr>
      <vt:lpstr>Dual-Sink Storage Pattern</vt:lpstr>
      <vt:lpstr>Quality Assurance &amp; Observability</vt:lpstr>
      <vt:lpstr>Data Consumers</vt:lpstr>
      <vt:lpstr>Dashboard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Phong TT &amp; QTTH</dc:creator>
  <cp:lastModifiedBy>Nguyen Hoang Son Tung</cp:lastModifiedBy>
  <cp:revision>29</cp:revision>
  <dcterms:created xsi:type="dcterms:W3CDTF">2021-05-28T04:32:29Z</dcterms:created>
  <dcterms:modified xsi:type="dcterms:W3CDTF">2026-01-11T16:31:00Z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0x0101002D4B0F567DB6A048A3BD294556057AFF</vt:lpwstr>
  </property>
</Properties>
</file>