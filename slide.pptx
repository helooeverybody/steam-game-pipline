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5" r:id="rId6"/>
    <p:sldId id="277" r:id="rId7"/>
    <p:sldId id="266" r:id="rId8"/>
    <p:sldId id="284" r:id="rId9"/>
    <p:sldId id="278" r:id="rId10"/>
    <p:sldId id="285" r:id="rId11"/>
    <p:sldId id="282" r:id="rId12"/>
    <p:sldId id="280" r:id="rId13"/>
    <p:sldId id="281" r:id="rId14"/>
    <p:sldId id="288" r:id="rId15"/>
    <p:sldId id="287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1/11/2026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5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dirty="0"/>
              <a:t>Steam</a:t>
            </a:r>
            <a:r>
              <a:rPr lang="en-US" dirty="0"/>
              <a:t> Game</a:t>
            </a:r>
            <a:r>
              <a:rPr lang="vi-VN" dirty="0"/>
              <a:t> Analysis</a:t>
            </a:r>
            <a:endParaRPr lang="en-US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25504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2800" b="0" dirty="0"/>
              <a:t>G</a:t>
            </a:r>
            <a:r>
              <a:rPr lang="en-US" sz="2800" b="0" dirty="0" err="1"/>
              <a:t>roup</a:t>
            </a:r>
            <a:r>
              <a:rPr lang="en-US" sz="2800" b="0" dirty="0"/>
              <a:t> 17</a:t>
            </a:r>
          </a:p>
          <a:p>
            <a:r>
              <a:rPr lang="en-US" sz="1800" b="0" dirty="0"/>
              <a:t>Ngo Duy Dat -20225480</a:t>
            </a:r>
          </a:p>
          <a:p>
            <a:r>
              <a:rPr lang="en-US" sz="1800" b="0" dirty="0"/>
              <a:t>Doi Si Thang – 20225528</a:t>
            </a:r>
          </a:p>
          <a:p>
            <a:r>
              <a:rPr lang="en-US" sz="1800" b="0" dirty="0"/>
              <a:t>Nguyen Nhat Minh – 20225510</a:t>
            </a:r>
          </a:p>
          <a:p>
            <a:r>
              <a:rPr lang="en-US" sz="1800" b="0" dirty="0"/>
              <a:t>Nguyen Hoang Son Tung – 20225536</a:t>
            </a:r>
          </a:p>
          <a:p>
            <a:r>
              <a:rPr lang="en-US" sz="1800" b="0" dirty="0"/>
              <a:t>Vu Tuan Truong - 20225535</a:t>
            </a:r>
          </a:p>
          <a:p>
            <a:endParaRPr lang="en-US" sz="2800" b="0" dirty="0"/>
          </a:p>
          <a:p>
            <a:r>
              <a:rPr lang="en-US" sz="2800" b="0" dirty="0"/>
              <a:t> </a:t>
            </a:r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22086"/>
            <a:ext cx="8674100" cy="5303393"/>
          </a:xfrm>
        </p:spPr>
        <p:txBody>
          <a:bodyPr/>
          <a:lstStyle/>
          <a:p>
            <a:r>
              <a:rPr lang="en-US" sz="2400" dirty="0"/>
              <a:t>Background:</a:t>
            </a:r>
          </a:p>
          <a:p>
            <a:pPr lvl="1"/>
            <a:r>
              <a:rPr lang="en-US" sz="2000" dirty="0"/>
              <a:t>Steam dominates the market, generating massive datasets: player behavior, commercial performance,…</a:t>
            </a:r>
            <a:endParaRPr lang="en-US" sz="2000" b="0" i="0" dirty="0">
              <a:solidFill>
                <a:srgbClr val="E2E2E5"/>
              </a:solidFill>
              <a:effectLst/>
              <a:latin typeface="Inter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Fragmentation: Data is scattered and historical data is not public.</a:t>
            </a:r>
          </a:p>
          <a:p>
            <a:pPr marL="285750" indent="-285750"/>
            <a:r>
              <a:rPr lang="en-US" dirty="0"/>
              <a:t>Target:</a:t>
            </a:r>
          </a:p>
          <a:p>
            <a:pPr lvl="1"/>
            <a:r>
              <a:rPr lang="en-US" sz="2000" dirty="0"/>
              <a:t>Scrape data from </a:t>
            </a:r>
            <a:r>
              <a:rPr lang="en-US" sz="2000" dirty="0" err="1"/>
              <a:t>SteamSpy</a:t>
            </a:r>
            <a:r>
              <a:rPr lang="en-US" sz="2000" dirty="0"/>
              <a:t> and Steam.</a:t>
            </a:r>
          </a:p>
          <a:p>
            <a:pPr lvl="1"/>
            <a:r>
              <a:rPr lang="en-US" sz="2000" dirty="0"/>
              <a:t>Clean, process streaming data using distributed framework.</a:t>
            </a:r>
          </a:p>
          <a:p>
            <a:pPr lvl="1"/>
            <a:r>
              <a:rPr lang="en-US" sz="2000" dirty="0"/>
              <a:t>Analyze the data using </a:t>
            </a:r>
            <a:r>
              <a:rPr lang="en-US" sz="2000" dirty="0" err="1"/>
              <a:t>PowerBI</a:t>
            </a:r>
            <a:r>
              <a:rPr lang="en-US" sz="2000" dirty="0"/>
              <a:t> and ML to provide useful/predictive insights.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3" name="Rectangle 309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elcome to Steam">
            <a:extLst>
              <a:ext uri="{FF2B5EF4-FFF2-40B4-BE49-F238E27FC236}">
                <a16:creationId xmlns:a16="http://schemas.microsoft.com/office/drawing/2014/main" id="{5571B665-77CB-E17F-BB06-4588371A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9" r="18237"/>
          <a:stretch>
            <a:fillRect/>
          </a:stretch>
        </p:blipFill>
        <p:spPr bwMode="auto">
          <a:xfrm>
            <a:off x="20" y="10"/>
            <a:ext cx="72522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4" name="Rectangle 309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Source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EEF99A-243F-146D-2B1B-9D5178F184D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48707" y="2434200"/>
            <a:ext cx="2866642" cy="42014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 dirty="0">
                <a:latin typeface="+mn-lt"/>
                <a:ea typeface="+mn-ea"/>
                <a:cs typeface="+mn-cs"/>
              </a:rPr>
              <a:t>Steam: the world biggest online game distribution platform</a:t>
            </a:r>
          </a:p>
          <a:p>
            <a:r>
              <a:rPr lang="en-US" sz="1700" dirty="0">
                <a:latin typeface="+mn-lt"/>
                <a:ea typeface="+mn-ea"/>
                <a:cs typeface="+mn-cs"/>
              </a:rPr>
              <a:t>Types of data:</a:t>
            </a:r>
          </a:p>
          <a:p>
            <a:pPr lvl="1"/>
            <a:r>
              <a:rPr lang="en-US" sz="1700" dirty="0">
                <a:latin typeface="+mn-lt"/>
                <a:ea typeface="+mn-ea"/>
                <a:cs typeface="+mn-cs"/>
              </a:rPr>
              <a:t>Game details: id, price, rating, current players, …</a:t>
            </a:r>
          </a:p>
          <a:p>
            <a:pPr lvl="1"/>
            <a:r>
              <a:rPr lang="en-US" sz="1700" dirty="0">
                <a:latin typeface="+mn-lt"/>
                <a:ea typeface="+mn-ea"/>
                <a:cs typeface="+mn-cs"/>
              </a:rPr>
              <a:t>Game reviews: user ratings, comments, play time</a:t>
            </a:r>
          </a:p>
          <a:p>
            <a:pPr lvl="1"/>
            <a:r>
              <a:rPr lang="en-US" sz="1700" dirty="0" err="1">
                <a:latin typeface="+mn-lt"/>
                <a:ea typeface="+mn-ea"/>
                <a:cs typeface="+mn-cs"/>
              </a:rPr>
              <a:t>SteamSpy</a:t>
            </a:r>
            <a:r>
              <a:rPr lang="en-US" sz="1700" dirty="0">
                <a:latin typeface="+mn-lt"/>
                <a:ea typeface="+mn-ea"/>
                <a:cs typeface="+mn-cs"/>
              </a:rPr>
              <a:t> data: backfill data about real-time info (past price/player online)</a:t>
            </a:r>
          </a:p>
          <a:p>
            <a:pPr lvl="1"/>
            <a:endParaRPr lang="en-US" sz="17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3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5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Approach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5E3E5B9-2A39-9A73-79C7-9D615A5D7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847474" cy="284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4810977F-B75F-2C47-A2A4-B20CC8CEE2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65684" y="1022684"/>
            <a:ext cx="2558716" cy="255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06E6B3E-16B1-44D2-9FC3-620805C10757}"/>
              </a:ext>
            </a:extLst>
          </p:cNvPr>
          <p:cNvSpPr txBox="1">
            <a:spLocks/>
          </p:cNvSpPr>
          <p:nvPr/>
        </p:nvSpPr>
        <p:spPr>
          <a:xfrm>
            <a:off x="250683" y="1022086"/>
            <a:ext cx="8674100" cy="530339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Kappa Architecture </a:t>
            </a:r>
            <a:r>
              <a:rPr lang="en-US" sz="2400" dirty="0"/>
              <a:t>for unified processing between batch/stream data</a:t>
            </a:r>
          </a:p>
          <a:p>
            <a:r>
              <a:rPr lang="en-US" sz="2400" b="1" dirty="0"/>
              <a:t>Key Objectives:</a:t>
            </a:r>
          </a:p>
          <a:p>
            <a:pPr lvl="1"/>
            <a:r>
              <a:rPr lang="en-US" sz="2000" dirty="0"/>
              <a:t>Recovering game catalogs and historical reviews/player counts</a:t>
            </a:r>
          </a:p>
          <a:p>
            <a:pPr lvl="1"/>
            <a:r>
              <a:rPr lang="en-US" sz="2000" dirty="0"/>
              <a:t>Capturing new games/reviews within minutes</a:t>
            </a:r>
          </a:p>
          <a:p>
            <a:pPr lvl="1"/>
            <a:r>
              <a:rPr lang="en-US" sz="2000" dirty="0"/>
              <a:t>Distribute the system on Kubernetes for better processing power/error handling/auto distribution.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&amp; Design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5E3E5B9-2A39-9A73-79C7-9D615A5D72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847474" cy="2847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4810977F-B75F-2C47-A2A4-B20CC8CEE2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65684" y="1022684"/>
            <a:ext cx="2558716" cy="255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26354-12F3-46D5-B4C9-EACC47ECB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655"/>
            <a:ext cx="9144000" cy="23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3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3" y="0"/>
            <a:ext cx="6414662" cy="671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Infrastructure Implementation</a:t>
            </a:r>
            <a:endParaRPr lang="en-US" b="1" i="0" dirty="0">
              <a:solidFill>
                <a:srgbClr val="E2E2E5"/>
              </a:solidFill>
              <a:effectLst/>
              <a:latin typeface="Inter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6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8E71CEF-B0FE-499C-954A-B92935F7D9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22086"/>
            <a:ext cx="8674100" cy="5303393"/>
          </a:xfrm>
        </p:spPr>
        <p:txBody>
          <a:bodyPr/>
          <a:lstStyle/>
          <a:p>
            <a:r>
              <a:rPr lang="en-US" sz="2400" dirty="0"/>
              <a:t>Cluster Setup:</a:t>
            </a:r>
          </a:p>
          <a:p>
            <a:pPr lvl="1"/>
            <a:r>
              <a:rPr lang="en-US" sz="2000" dirty="0"/>
              <a:t>Deployed on a distributed cluster of personal laptops.</a:t>
            </a:r>
          </a:p>
          <a:p>
            <a:pPr lvl="1"/>
            <a:r>
              <a:rPr lang="en-US" sz="2000" dirty="0" err="1"/>
              <a:t>Tailscale</a:t>
            </a:r>
            <a:r>
              <a:rPr lang="en-US" sz="2000" dirty="0"/>
              <a:t> (Mesh VPN): Creates a flat, encrypted overlay network, allowing nodes to communicate across NAT boundaries as if they were on a local LAN.</a:t>
            </a:r>
          </a:p>
          <a:p>
            <a:r>
              <a:rPr lang="en-US" sz="2400" dirty="0"/>
              <a:t>Orchestration Stack:</a:t>
            </a:r>
          </a:p>
          <a:p>
            <a:pPr lvl="1"/>
            <a:r>
              <a:rPr lang="en-US" sz="2000" dirty="0"/>
              <a:t>Kubernetes with k3s: A lightweight K8s distribution.</a:t>
            </a:r>
          </a:p>
          <a:p>
            <a:pPr lvl="1"/>
            <a:r>
              <a:rPr lang="en-US" sz="2000" dirty="0"/>
              <a:t>Helm: Used to manage complex distributed deployments:</a:t>
            </a:r>
          </a:p>
          <a:p>
            <a:pPr lvl="2"/>
            <a:r>
              <a:rPr lang="en-US" sz="1600" dirty="0" err="1"/>
              <a:t>Strimzi</a:t>
            </a:r>
            <a:r>
              <a:rPr lang="en-US" sz="1600" dirty="0"/>
              <a:t> Operator for Kafka.</a:t>
            </a:r>
          </a:p>
          <a:p>
            <a:pPr lvl="2"/>
            <a:r>
              <a:rPr lang="en-US" sz="1600" dirty="0"/>
              <a:t>Spark Operator for application lifecycle.</a:t>
            </a:r>
          </a:p>
          <a:p>
            <a:pPr lvl="2"/>
            <a:r>
              <a:rPr lang="en-US" sz="1600" dirty="0"/>
              <a:t>HDFS for distributed storage.</a:t>
            </a:r>
          </a:p>
        </p:txBody>
      </p:sp>
      <p:pic>
        <p:nvPicPr>
          <p:cNvPr id="1026" name="Picture 2" descr="Kubernetes | Critical Components of Kubernetes Cluster">
            <a:extLst>
              <a:ext uri="{FF2B5EF4-FFF2-40B4-BE49-F238E27FC236}">
                <a16:creationId xmlns:a16="http://schemas.microsoft.com/office/drawing/2014/main" id="{106167C9-1C1F-43A8-B068-95A04754D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064" y="4530671"/>
            <a:ext cx="3858936" cy="179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4104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602DB0-775F-48D6-A859-B4A185120367}"/>
              </a:ext>
            </a:extLst>
          </p:cNvPr>
          <p:cNvSpPr txBox="1"/>
          <p:nvPr/>
        </p:nvSpPr>
        <p:spPr>
          <a:xfrm>
            <a:off x="497940" y="1011929"/>
            <a:ext cx="50072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Kafka: 3 Producers &amp; Topics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Retention: -1ms (indefinite)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historical data: bootstrap Kafka using </a:t>
            </a:r>
          </a:p>
          <a:p>
            <a:r>
              <a:rPr lang="en-US" sz="1600" dirty="0"/>
              <a:t>mined historical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5EAA6-E45A-4692-8120-F6493B54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19137"/>
            <a:ext cx="4325904" cy="426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3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B48EA9-15F8-9DA3-2FF3-A207E8B5B2C7}"/>
              </a:ext>
            </a:extLst>
          </p:cNvPr>
          <p:cNvSpPr txBox="1"/>
          <p:nvPr/>
        </p:nvSpPr>
        <p:spPr>
          <a:xfrm>
            <a:off x="1174544" y="3475478"/>
            <a:ext cx="1615420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SILVER</a:t>
            </a:r>
          </a:p>
          <a:p>
            <a:pPr algn="ctr"/>
            <a:r>
              <a:rPr lang="en-US" sz="1200" dirty="0"/>
              <a:t>Cleaning + Normalizing + null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43A9C-DA36-1CAA-4643-077BA5872EC3}"/>
              </a:ext>
            </a:extLst>
          </p:cNvPr>
          <p:cNvSpPr txBox="1"/>
          <p:nvPr/>
        </p:nvSpPr>
        <p:spPr>
          <a:xfrm>
            <a:off x="1200299" y="5008066"/>
            <a:ext cx="1634732" cy="646331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GOLD</a:t>
            </a:r>
          </a:p>
          <a:p>
            <a:pPr algn="ctr"/>
            <a:r>
              <a:rPr lang="en-US" sz="1200" dirty="0"/>
              <a:t>Advanced transform + Analytics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DF1F5A94-8992-3091-5025-323A64FEE9A5}"/>
              </a:ext>
            </a:extLst>
          </p:cNvPr>
          <p:cNvSpPr/>
          <p:nvPr/>
        </p:nvSpPr>
        <p:spPr>
          <a:xfrm>
            <a:off x="1824773" y="2719959"/>
            <a:ext cx="204906" cy="4144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239792-9245-81CA-86A6-278EEEC179A6}"/>
              </a:ext>
            </a:extLst>
          </p:cNvPr>
          <p:cNvSpPr txBox="1"/>
          <p:nvPr/>
        </p:nvSpPr>
        <p:spPr>
          <a:xfrm>
            <a:off x="1506511" y="2323321"/>
            <a:ext cx="1429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RAW DATA</a:t>
            </a:r>
          </a:p>
        </p:txBody>
      </p:sp>
      <p:pic>
        <p:nvPicPr>
          <p:cNvPr id="18" name="Picture 12" descr="PySpark Overview — PySpark 4.0.1 ...">
            <a:extLst>
              <a:ext uri="{FF2B5EF4-FFF2-40B4-BE49-F238E27FC236}">
                <a16:creationId xmlns:a16="http://schemas.microsoft.com/office/drawing/2014/main" id="{B60BBDDA-E39A-8534-918C-8DB722887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29" y="959634"/>
            <a:ext cx="1909831" cy="101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3602DB0-775F-48D6-A859-B4A185120367}"/>
              </a:ext>
            </a:extLst>
          </p:cNvPr>
          <p:cNvSpPr txBox="1"/>
          <p:nvPr/>
        </p:nvSpPr>
        <p:spPr>
          <a:xfrm>
            <a:off x="3171039" y="1574469"/>
            <a:ext cx="591329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Silver Layer (Refinement):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Schema Enforcement: Converts raw JSON to strict </a:t>
            </a:r>
            <a:r>
              <a:rPr lang="en-US" dirty="0" err="1"/>
              <a:t>StructTypes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Evolution Handling: explicit NULL injection for historical fields.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Sanitization: Regex-based cleaning.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Gold Layer (Complex Aggregations):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Windowing Strategy: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Player Trends: 30-minute tumbling windows to calculate Max/Avg concurrency.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Sentiment: 1-hour tumbling windows to track "Positive vs. Negative" ratios.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Watermarking: configured to handle late-arriving data and out-of-order network packets before finalizing results.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A8CC27A-A1DC-485A-9272-5B428D359D33}"/>
              </a:ext>
            </a:extLst>
          </p:cNvPr>
          <p:cNvSpPr/>
          <p:nvPr/>
        </p:nvSpPr>
        <p:spPr>
          <a:xfrm>
            <a:off x="1882247" y="4339479"/>
            <a:ext cx="204906" cy="41449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3" y="0"/>
            <a:ext cx="6414662" cy="671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Dual-Sink Storage Pattern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9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BE72270-D58F-510A-21FD-2D34A177BB5E}"/>
              </a:ext>
            </a:extLst>
          </p:cNvPr>
          <p:cNvSpPr>
            <a:spLocks noGrp="1"/>
          </p:cNvSpPr>
          <p:nvPr/>
        </p:nvSpPr>
        <p:spPr>
          <a:xfrm>
            <a:off x="234950" y="963461"/>
            <a:ext cx="8674100" cy="49310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+mn-lt"/>
                <a:ea typeface="+mn-ea"/>
                <a:cs typeface="+mn-cs"/>
              </a:rPr>
              <a:t>The Challenge:</a:t>
            </a:r>
          </a:p>
          <a:p>
            <a:pPr lvl="1"/>
            <a:r>
              <a:rPr lang="en-US" sz="2000" dirty="0">
                <a:latin typeface="+mn-lt"/>
                <a:ea typeface="+mn-ea"/>
                <a:cs typeface="+mn-cs"/>
              </a:rPr>
              <a:t>Analytical users need deep history</a:t>
            </a:r>
          </a:p>
          <a:p>
            <a:pPr lvl="1"/>
            <a:r>
              <a:rPr lang="en-US" sz="2000" dirty="0">
                <a:latin typeface="+mn-lt"/>
                <a:ea typeface="+mn-ea"/>
                <a:cs typeface="+mn-cs"/>
              </a:rPr>
              <a:t>Dashboard users need sub-second responsiveness</a:t>
            </a:r>
          </a:p>
          <a:p>
            <a:r>
              <a:rPr lang="en-US" sz="2400" dirty="0">
                <a:latin typeface="+mn-lt"/>
                <a:ea typeface="+mn-ea"/>
                <a:cs typeface="+mn-cs"/>
              </a:rPr>
              <a:t>The Solution: Dual Sink</a:t>
            </a:r>
          </a:p>
          <a:p>
            <a:pPr lvl="1"/>
            <a:r>
              <a:rPr lang="en-US" sz="2000" dirty="0">
                <a:latin typeface="+mn-lt"/>
                <a:ea typeface="+mn-ea"/>
                <a:cs typeface="+mn-cs"/>
              </a:rPr>
              <a:t>Sink 1: Data Lake (Apache Iceberg over HDFS)</a:t>
            </a:r>
          </a:p>
          <a:p>
            <a:pPr lvl="1"/>
            <a:r>
              <a:rPr lang="en-US" sz="2000" dirty="0">
                <a:latin typeface="+mn-lt"/>
                <a:ea typeface="+mn-ea"/>
                <a:cs typeface="+mn-cs"/>
              </a:rPr>
              <a:t>Sink 2: Operational Store (MongoDB)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A95CA-6185-4AFF-BB44-0FBEF7F7A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3292475"/>
            <a:ext cx="435447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3" y="0"/>
            <a:ext cx="6414662" cy="6711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Quality Assurance &amp; Observability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10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8E71CEF-B0FE-499C-954A-B92935F7D9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22086"/>
            <a:ext cx="8674100" cy="530339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Data Quality (The Promotion Gate):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Implemented using </a:t>
            </a:r>
            <a:r>
              <a:rPr lang="en-US" sz="2000" dirty="0" err="1">
                <a:effectLst/>
                <a:latin typeface="+mn-lt"/>
              </a:rPr>
              <a:t>PyDeequ</a:t>
            </a:r>
            <a:endParaRPr lang="en-US" sz="2000" dirty="0">
              <a:effectLst/>
              <a:latin typeface="+mn-lt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Strategy: Data lands in a staging area first.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Verification Suites: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</a:rPr>
              <a:t>Critical: Checks for NULL primary keys or duplicates.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</a:rPr>
              <a:t>Warning: Checks for business logic anomalies (e.g., negative prices).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</a:rPr>
              <a:t>System Observability: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Prometheus: Scrapes metrics from Kafka, MongoDB, and K8s pods every 15 seconds.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+mn-lt"/>
              </a:rPr>
              <a:t>Grafana: Visualizes infrastructure health together with the dashboards.</a:t>
            </a:r>
          </a:p>
        </p:txBody>
      </p:sp>
    </p:spTree>
    <p:extLst>
      <p:ext uri="{BB962C8B-B14F-4D97-AF65-F5344CB8AC3E}">
        <p14:creationId xmlns:p14="http://schemas.microsoft.com/office/powerpoint/2010/main" val="3243970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3" y="0"/>
            <a:ext cx="6414662" cy="6711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Data Consumers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11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8E71CEF-B0FE-499C-954A-B92935F7D9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1022086"/>
            <a:ext cx="8674100" cy="5303393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Inter"/>
              </a:rPr>
              <a:t>Interactive Dashboards (Grafana):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Inter"/>
              </a:rPr>
              <a:t>Hybrid Data Source: Uniquely combines Prometheus (for pipeline latency/health) and MongoDB (for game metrics) into a single pane of glass.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Inter"/>
              </a:rPr>
              <a:t>Automation: Dashboards are version-controlled via JSON and auto-provisioned at container startup.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Inter"/>
              </a:rPr>
              <a:t>Predictive Modeling (</a:t>
            </a:r>
            <a:r>
              <a:rPr lang="en-US" sz="1800" dirty="0" err="1">
                <a:effectLst/>
                <a:latin typeface="Inter"/>
              </a:rPr>
              <a:t>SparkML</a:t>
            </a:r>
            <a:r>
              <a:rPr lang="en-US" sz="1800" dirty="0">
                <a:effectLst/>
                <a:latin typeface="Inter"/>
              </a:rPr>
              <a:t>):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Inter"/>
              </a:rPr>
              <a:t>Objective: Forecasting Player Count Trends.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Inter"/>
              </a:rPr>
              <a:t>Pipeline: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nter"/>
              </a:rPr>
              <a:t>Training: Uses the deep historical baselines stored in Apache Iceberg (Silver Layer) to train Time Series or Linear Regression models.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nter"/>
              </a:rPr>
              <a:t>Features: </a:t>
            </a:r>
            <a:r>
              <a:rPr lang="en-US" sz="1400" dirty="0">
                <a:effectLst/>
                <a:latin typeface="DM Mono"/>
              </a:rPr>
              <a:t>avg_playtime_2weeks</a:t>
            </a:r>
            <a:r>
              <a:rPr lang="en-US" sz="1400" dirty="0">
                <a:effectLst/>
                <a:latin typeface="Inter"/>
              </a:rPr>
              <a:t>, </a:t>
            </a:r>
            <a:r>
              <a:rPr lang="en-US" sz="1400" dirty="0" err="1">
                <a:effectLst/>
                <a:latin typeface="DM Mono"/>
              </a:rPr>
              <a:t>price_segment</a:t>
            </a:r>
            <a:r>
              <a:rPr lang="en-US" sz="1400" dirty="0">
                <a:effectLst/>
                <a:latin typeface="Inter"/>
              </a:rPr>
              <a:t>, and historical </a:t>
            </a:r>
            <a:r>
              <a:rPr lang="en-US" sz="1400" dirty="0" err="1">
                <a:effectLst/>
                <a:latin typeface="DM Mono"/>
              </a:rPr>
              <a:t>peak_players</a:t>
            </a:r>
            <a:r>
              <a:rPr lang="en-US" sz="1400" dirty="0">
                <a:effectLst/>
                <a:latin typeface="Inter"/>
              </a:rPr>
              <a:t>.</a:t>
            </a:r>
          </a:p>
          <a:p>
            <a:pPr marL="1143000" lvl="2" indent="-228600" algn="l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Inter"/>
              </a:rPr>
              <a:t>Inference: Predicts traffic spikes for upcoming weekends or sales events, allowing for proactive resource planning.</a:t>
            </a:r>
          </a:p>
        </p:txBody>
      </p:sp>
    </p:spTree>
    <p:extLst>
      <p:ext uri="{BB962C8B-B14F-4D97-AF65-F5344CB8AC3E}">
        <p14:creationId xmlns:p14="http://schemas.microsoft.com/office/powerpoint/2010/main" val="204720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B491A-024B-1CB9-104E-BE3A93F81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1FD0D7-46E9-C3A4-FDAD-30CE7A43D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3" y="0"/>
            <a:ext cx="6414662" cy="6711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43EA9C-0667-1FD6-4940-EC5B44D58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  <a:defRPr/>
            </a:pPr>
            <a:fld id="{9EA0BE3B-158A-4EDF-80DC-E394A0D1600F}" type="slidenum">
              <a:rPr lang="en-US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pPr defTabSz="914400">
                <a:spcAft>
                  <a:spcPts val="600"/>
                </a:spcAft>
                <a:defRPr/>
              </a:pPr>
              <a:t>12</a:t>
            </a:fld>
            <a:endParaRPr lang="en-US" b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938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4B0F567DB6A048A3BD294556057AFF" ma:contentTypeVersion="10" ma:contentTypeDescription="Create a new document." ma:contentTypeScope="" ma:versionID="31c0f740d92a5fb9e81516f754310f2c">
  <xsd:schema xmlns:xsd="http://www.w3.org/2001/XMLSchema" xmlns:xs="http://www.w3.org/2001/XMLSchema" xmlns:p="http://schemas.microsoft.com/office/2006/metadata/properties" xmlns:ns3="2a578b54-47b9-4ee9-8bf0-b042a4683d6c" targetNamespace="http://schemas.microsoft.com/office/2006/metadata/properties" ma:root="true" ma:fieldsID="e063773740d8993c43ca851e59441d5c" ns3:_="">
    <xsd:import namespace="2a578b54-47b9-4ee9-8bf0-b042a4683d6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78b54-47b9-4ee9-8bf0-b042a4683d6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CB3463-96C8-488B-B922-45134A704552}">
  <ds:schemaRefs>
    <ds:schemaRef ds:uri="http://schemas.openxmlformats.org/package/2006/metadata/core-properties"/>
    <ds:schemaRef ds:uri="http://purl.org/dc/terms/"/>
    <ds:schemaRef ds:uri="2a578b54-47b9-4ee9-8bf0-b042a4683d6c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27E607-237F-4AF9-B8C0-BBD832EEB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578b54-47b9-4ee9-8bf0-b042a4683d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E98E-1142-43DA-ABA7-DE52E5B52E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</TotalTime>
  <Words>661</Words>
  <Application>Microsoft Office PowerPoint</Application>
  <PresentationFormat>On-screen Show (4:3)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DM Mono</vt:lpstr>
      <vt:lpstr>Inter</vt:lpstr>
      <vt:lpstr>Arial</vt:lpstr>
      <vt:lpstr>Calibri</vt:lpstr>
      <vt:lpstr>Calibri Light</vt:lpstr>
      <vt:lpstr>Lato</vt:lpstr>
      <vt:lpstr>Office Theme</vt:lpstr>
      <vt:lpstr>PowerPoint Presentation</vt:lpstr>
      <vt:lpstr>Problem</vt:lpstr>
      <vt:lpstr>Data Source</vt:lpstr>
      <vt:lpstr>Architectural Approach</vt:lpstr>
      <vt:lpstr>System Architecture &amp; Design</vt:lpstr>
      <vt:lpstr>Infrastructure Implementation</vt:lpstr>
      <vt:lpstr>Ingestion Layer</vt:lpstr>
      <vt:lpstr>Processing</vt:lpstr>
      <vt:lpstr>Dual-Sink Storage Pattern</vt:lpstr>
      <vt:lpstr>Quality Assurance &amp; Observability</vt:lpstr>
      <vt:lpstr>Data Consumers</vt:lpstr>
      <vt:lpstr>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Hoang Son Tung</cp:lastModifiedBy>
  <cp:revision>30</cp:revision>
  <dcterms:created xsi:type="dcterms:W3CDTF">2021-05-28T04:32:29Z</dcterms:created>
  <dcterms:modified xsi:type="dcterms:W3CDTF">2026-01-11T16:52:41Z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0x0101002D4B0F567DB6A048A3BD294556057AFF</vt:lpwstr>
  </property>
</Properties>
</file>